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2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, Jongsik" userId="d7b7e262-8d20-4a71-ad9e-f2feff73a6eb" providerId="ADAL" clId="{522EF78A-31B1-482D-9DB9-2220346151C9}"/>
    <pc:docChg chg="undo custSel modSld">
      <pc:chgData name="Park, Jongsik" userId="d7b7e262-8d20-4a71-ad9e-f2feff73a6eb" providerId="ADAL" clId="{522EF78A-31B1-482D-9DB9-2220346151C9}" dt="2026-10-19T06:10:21.146" v="410" actId="1035"/>
      <pc:docMkLst>
        <pc:docMk/>
      </pc:docMkLst>
      <pc:sldChg chg="addSp delSp modSp mod">
        <pc:chgData name="Park, Jongsik" userId="d7b7e262-8d20-4a71-ad9e-f2feff73a6eb" providerId="ADAL" clId="{522EF78A-31B1-482D-9DB9-2220346151C9}" dt="2026-10-19T06:10:21.146" v="410" actId="1035"/>
        <pc:sldMkLst>
          <pc:docMk/>
          <pc:sldMk cId="0" sldId="256"/>
        </pc:sldMkLst>
        <pc:spChg chg="mod">
          <ac:chgData name="Park, Jongsik" userId="d7b7e262-8d20-4a71-ad9e-f2feff73a6eb" providerId="ADAL" clId="{522EF78A-31B1-482D-9DB9-2220346151C9}" dt="2026-10-19T06:10:21.146" v="410" actId="1035"/>
          <ac:spMkLst>
            <pc:docMk/>
            <pc:sldMk cId="0" sldId="256"/>
            <ac:spMk id="7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6:10:21.146" v="410" actId="1035"/>
          <ac:spMkLst>
            <pc:docMk/>
            <pc:sldMk cId="0" sldId="256"/>
            <ac:spMk id="9" creationId="{00000000-0000-0000-0000-000000000000}"/>
          </ac:spMkLst>
        </pc:spChg>
        <pc:picChg chg="del">
          <ac:chgData name="Park, Jongsik" userId="d7b7e262-8d20-4a71-ad9e-f2feff73a6eb" providerId="ADAL" clId="{522EF78A-31B1-482D-9DB9-2220346151C9}" dt="2026-10-19T04:12:08.888" v="160" actId="478"/>
          <ac:picMkLst>
            <pc:docMk/>
            <pc:sldMk cId="0" sldId="256"/>
            <ac:picMk id="2" creationId="{00000000-0000-0000-0000-000000000000}"/>
          </ac:picMkLst>
        </pc:picChg>
        <pc:picChg chg="add del mod modCrop">
          <ac:chgData name="Park, Jongsik" userId="d7b7e262-8d20-4a71-ad9e-f2feff73a6eb" providerId="ADAL" clId="{522EF78A-31B1-482D-9DB9-2220346151C9}" dt="2026-10-19T04:12:21.343" v="164" actId="22"/>
          <ac:picMkLst>
            <pc:docMk/>
            <pc:sldMk cId="0" sldId="256"/>
            <ac:picMk id="13" creationId="{BD7B2687-BE1B-5165-D2DC-1E59CD8298F4}"/>
          </ac:picMkLst>
        </pc:picChg>
        <pc:picChg chg="add">
          <ac:chgData name="Park, Jongsik" userId="d7b7e262-8d20-4a71-ad9e-f2feff73a6eb" providerId="ADAL" clId="{522EF78A-31B1-482D-9DB9-2220346151C9}" dt="2026-10-19T04:12:23.222" v="165" actId="22"/>
          <ac:picMkLst>
            <pc:docMk/>
            <pc:sldMk cId="0" sldId="256"/>
            <ac:picMk id="15" creationId="{31CEB722-EAF9-DFC5-684B-8E7ED04A1362}"/>
          </ac:picMkLst>
        </pc:picChg>
      </pc:sldChg>
      <pc:sldChg chg="modSp mod">
        <pc:chgData name="Park, Jongsik" userId="d7b7e262-8d20-4a71-ad9e-f2feff73a6eb" providerId="ADAL" clId="{522EF78A-31B1-482D-9DB9-2220346151C9}" dt="2026-10-19T05:45:42.679" v="170" actId="1035"/>
        <pc:sldMkLst>
          <pc:docMk/>
          <pc:sldMk cId="0" sldId="258"/>
        </pc:sldMkLst>
        <pc:spChg chg="mod">
          <ac:chgData name="Park, Jongsik" userId="d7b7e262-8d20-4a71-ad9e-f2feff73a6eb" providerId="ADAL" clId="{522EF78A-31B1-482D-9DB9-2220346151C9}" dt="2026-10-19T05:45:42.679" v="170" actId="1035"/>
          <ac:spMkLst>
            <pc:docMk/>
            <pc:sldMk cId="0" sldId="258"/>
            <ac:spMk id="6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5:45:42.679" v="170" actId="103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5:45:42.679" v="170" actId="103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5:45:42.679" v="170" actId="103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5:45:42.679" v="170" actId="103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0:54.185" v="35" actId="1037"/>
          <ac:spMkLst>
            <pc:docMk/>
            <pc:sldMk cId="0" sldId="258"/>
            <ac:spMk id="25" creationId="{00000000-0000-0000-0000-000000000000}"/>
          </ac:spMkLst>
        </pc:spChg>
      </pc:sldChg>
      <pc:sldChg chg="addSp delSp modSp mod">
        <pc:chgData name="Park, Jongsik" userId="d7b7e262-8d20-4a71-ad9e-f2feff73a6eb" providerId="ADAL" clId="{522EF78A-31B1-482D-9DB9-2220346151C9}" dt="2026-10-19T06:05:52.204" v="405" actId="1076"/>
        <pc:sldMkLst>
          <pc:docMk/>
          <pc:sldMk cId="0" sldId="259"/>
        </pc:sldMkLst>
        <pc:spChg chg="mod">
          <ac:chgData name="Park, Jongsik" userId="d7b7e262-8d20-4a71-ad9e-f2feff73a6eb" providerId="ADAL" clId="{522EF78A-31B1-482D-9DB9-2220346151C9}" dt="2026-10-19T05:52:16.601" v="244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5:48:49.568" v="224" actId="10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6:05:16.120" v="349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5:52:21.790" v="247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6:05:10.677" v="347" actId="1038"/>
          <ac:spMkLst>
            <pc:docMk/>
            <pc:sldMk cId="0" sldId="259"/>
            <ac:spMk id="9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6:05:10.677" v="347" actId="1038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6:05:13.512" v="348" actId="1410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6:05:10.677" v="347" actId="103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Park, Jongsik" userId="d7b7e262-8d20-4a71-ad9e-f2feff73a6eb" providerId="ADAL" clId="{522EF78A-31B1-482D-9DB9-2220346151C9}" dt="2026-10-19T05:46:02.750" v="171" actId="478"/>
          <ac:spMkLst>
            <pc:docMk/>
            <pc:sldMk cId="0" sldId="259"/>
            <ac:spMk id="13" creationId="{00000000-0000-0000-0000-000000000000}"/>
          </ac:spMkLst>
        </pc:spChg>
        <pc:spChg chg="mod ord">
          <ac:chgData name="Park, Jongsik" userId="d7b7e262-8d20-4a71-ad9e-f2feff73a6eb" providerId="ADAL" clId="{522EF78A-31B1-482D-9DB9-2220346151C9}" dt="2026-10-19T06:05:10.677" v="347" actId="1038"/>
          <ac:spMkLst>
            <pc:docMk/>
            <pc:sldMk cId="0" sldId="259"/>
            <ac:spMk id="14" creationId="{00000000-0000-0000-0000-000000000000}"/>
          </ac:spMkLst>
        </pc:spChg>
        <pc:spChg chg="add mod">
          <ac:chgData name="Park, Jongsik" userId="d7b7e262-8d20-4a71-ad9e-f2feff73a6eb" providerId="ADAL" clId="{522EF78A-31B1-482D-9DB9-2220346151C9}" dt="2026-10-19T06:05:10.677" v="347" actId="1038"/>
          <ac:spMkLst>
            <pc:docMk/>
            <pc:sldMk cId="0" sldId="259"/>
            <ac:spMk id="15" creationId="{B8BFB72F-C11F-8573-000E-904847AE1311}"/>
          </ac:spMkLst>
        </pc:spChg>
        <pc:spChg chg="add mod">
          <ac:chgData name="Park, Jongsik" userId="d7b7e262-8d20-4a71-ad9e-f2feff73a6eb" providerId="ADAL" clId="{522EF78A-31B1-482D-9DB9-2220346151C9}" dt="2026-10-19T06:05:10.677" v="347" actId="1038"/>
          <ac:spMkLst>
            <pc:docMk/>
            <pc:sldMk cId="0" sldId="259"/>
            <ac:spMk id="16" creationId="{9C7E625C-5488-955F-008B-78590CF50277}"/>
          </ac:spMkLst>
        </pc:spChg>
        <pc:spChg chg="add mod">
          <ac:chgData name="Park, Jongsik" userId="d7b7e262-8d20-4a71-ad9e-f2feff73a6eb" providerId="ADAL" clId="{522EF78A-31B1-482D-9DB9-2220346151C9}" dt="2026-10-19T06:05:10.677" v="347" actId="1038"/>
          <ac:spMkLst>
            <pc:docMk/>
            <pc:sldMk cId="0" sldId="259"/>
            <ac:spMk id="17" creationId="{19630DB3-94C0-6EB7-10DC-F47FCC42D1EB}"/>
          </ac:spMkLst>
        </pc:spChg>
        <pc:spChg chg="add mod">
          <ac:chgData name="Park, Jongsik" userId="d7b7e262-8d20-4a71-ad9e-f2feff73a6eb" providerId="ADAL" clId="{522EF78A-31B1-482D-9DB9-2220346151C9}" dt="2026-10-19T05:59:45.608" v="274" actId="207"/>
          <ac:spMkLst>
            <pc:docMk/>
            <pc:sldMk cId="0" sldId="259"/>
            <ac:spMk id="30" creationId="{195EAD2A-217D-EF0D-9DA5-9F915B4693BE}"/>
          </ac:spMkLst>
        </pc:spChg>
        <pc:spChg chg="add mod">
          <ac:chgData name="Park, Jongsik" userId="d7b7e262-8d20-4a71-ad9e-f2feff73a6eb" providerId="ADAL" clId="{522EF78A-31B1-482D-9DB9-2220346151C9}" dt="2026-10-19T06:00:12.712" v="316" actId="20577"/>
          <ac:spMkLst>
            <pc:docMk/>
            <pc:sldMk cId="0" sldId="259"/>
            <ac:spMk id="32" creationId="{AD9FDB0D-153E-8273-4193-B8836A3C4E5F}"/>
          </ac:spMkLst>
        </pc:spChg>
        <pc:spChg chg="add mod">
          <ac:chgData name="Park, Jongsik" userId="d7b7e262-8d20-4a71-ad9e-f2feff73a6eb" providerId="ADAL" clId="{522EF78A-31B1-482D-9DB9-2220346151C9}" dt="2026-10-19T06:05:52.204" v="405" actId="1076"/>
          <ac:spMkLst>
            <pc:docMk/>
            <pc:sldMk cId="0" sldId="259"/>
            <ac:spMk id="33" creationId="{5F27D215-3250-D369-F007-89DC2AD448DA}"/>
          </ac:spMkLst>
        </pc:spChg>
        <pc:picChg chg="add mod">
          <ac:chgData name="Park, Jongsik" userId="d7b7e262-8d20-4a71-ad9e-f2feff73a6eb" providerId="ADAL" clId="{522EF78A-31B1-482D-9DB9-2220346151C9}" dt="2026-10-19T05:52:01.966" v="242" actId="1037"/>
          <ac:picMkLst>
            <pc:docMk/>
            <pc:sldMk cId="0" sldId="259"/>
            <ac:picMk id="19" creationId="{8148A24E-C89A-3413-4FF3-9DC8C3E46E30}"/>
          </ac:picMkLst>
        </pc:picChg>
        <pc:picChg chg="add del mod">
          <ac:chgData name="Park, Jongsik" userId="d7b7e262-8d20-4a71-ad9e-f2feff73a6eb" providerId="ADAL" clId="{522EF78A-31B1-482D-9DB9-2220346151C9}" dt="2026-10-19T05:51:52.292" v="231" actId="478"/>
          <ac:picMkLst>
            <pc:docMk/>
            <pc:sldMk cId="0" sldId="259"/>
            <ac:picMk id="21" creationId="{0738A52D-78A6-1CE0-9978-F6F1ED43A917}"/>
          </ac:picMkLst>
        </pc:picChg>
        <pc:picChg chg="add mod">
          <ac:chgData name="Park, Jongsik" userId="d7b7e262-8d20-4a71-ad9e-f2feff73a6eb" providerId="ADAL" clId="{522EF78A-31B1-482D-9DB9-2220346151C9}" dt="2026-10-19T06:05:10.677" v="347" actId="1038"/>
          <ac:picMkLst>
            <pc:docMk/>
            <pc:sldMk cId="0" sldId="259"/>
            <ac:picMk id="23" creationId="{8D10D808-B169-7C5E-27F2-444D3BCDFE56}"/>
          </ac:picMkLst>
        </pc:picChg>
        <pc:picChg chg="add mod ord">
          <ac:chgData name="Park, Jongsik" userId="d7b7e262-8d20-4a71-ad9e-f2feff73a6eb" providerId="ADAL" clId="{522EF78A-31B1-482D-9DB9-2220346151C9}" dt="2026-10-19T06:05:22.312" v="387" actId="1037"/>
          <ac:picMkLst>
            <pc:docMk/>
            <pc:sldMk cId="0" sldId="259"/>
            <ac:picMk id="26" creationId="{1AB9EA23-D15E-DB32-6839-AB2E5380479A}"/>
          </ac:picMkLst>
        </pc:picChg>
        <pc:picChg chg="add mod">
          <ac:chgData name="Park, Jongsik" userId="d7b7e262-8d20-4a71-ad9e-f2feff73a6eb" providerId="ADAL" clId="{522EF78A-31B1-482D-9DB9-2220346151C9}" dt="2026-10-19T06:05:22.312" v="387" actId="1037"/>
          <ac:picMkLst>
            <pc:docMk/>
            <pc:sldMk cId="0" sldId="259"/>
            <ac:picMk id="28" creationId="{C6667438-D73D-4471-18A1-74CAAF4EC519}"/>
          </ac:picMkLst>
        </pc:picChg>
      </pc:sldChg>
      <pc:sldChg chg="modSp mod">
        <pc:chgData name="Park, Jongsik" userId="d7b7e262-8d20-4a71-ad9e-f2feff73a6eb" providerId="ADAL" clId="{522EF78A-31B1-482D-9DB9-2220346151C9}" dt="2026-10-19T04:04:46.717" v="159" actId="14100"/>
        <pc:sldMkLst>
          <pc:docMk/>
          <pc:sldMk cId="0" sldId="264"/>
        </pc:sldMkLst>
        <pc:spChg chg="mod">
          <ac:chgData name="Park, Jongsik" userId="d7b7e262-8d20-4a71-ad9e-f2feff73a6eb" providerId="ADAL" clId="{522EF78A-31B1-482D-9DB9-2220346151C9}" dt="2026-10-19T04:04:46.717" v="159" actId="14100"/>
          <ac:spMkLst>
            <pc:docMk/>
            <pc:sldMk cId="0" sldId="264"/>
            <ac:spMk id="9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27.742" v="72" actId="103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27.742" v="72" actId="103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27.742" v="72" actId="103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27.742" v="72" actId="103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27.742" v="72" actId="103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27.742" v="72" actId="103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27.742" v="72" actId="103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27.742" v="72" actId="1036"/>
          <ac:spMkLst>
            <pc:docMk/>
            <pc:sldMk cId="0" sldId="264"/>
            <ac:spMk id="29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27.742" v="72" actId="103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27.742" v="72" actId="1036"/>
          <ac:spMkLst>
            <pc:docMk/>
            <pc:sldMk cId="0" sldId="264"/>
            <ac:spMk id="32" creationId="{00000000-0000-0000-0000-000000000000}"/>
          </ac:spMkLst>
        </pc:spChg>
      </pc:sldChg>
      <pc:sldChg chg="modSp mod">
        <pc:chgData name="Park, Jongsik" userId="d7b7e262-8d20-4a71-ad9e-f2feff73a6eb" providerId="ADAL" clId="{522EF78A-31B1-482D-9DB9-2220346151C9}" dt="2026-10-19T04:03:26.189" v="138" actId="14100"/>
        <pc:sldMkLst>
          <pc:docMk/>
          <pc:sldMk cId="0" sldId="265"/>
        </pc:sldMkLst>
        <pc:spChg chg="mod">
          <ac:chgData name="Park, Jongsik" userId="d7b7e262-8d20-4a71-ad9e-f2feff73a6eb" providerId="ADAL" clId="{522EF78A-31B1-482D-9DB9-2220346151C9}" dt="2026-10-19T04:02:39.648" v="87" actId="1036"/>
          <ac:spMkLst>
            <pc:docMk/>
            <pc:sldMk cId="0" sldId="265"/>
            <ac:spMk id="6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39.648" v="87" actId="1036"/>
          <ac:spMkLst>
            <pc:docMk/>
            <pc:sldMk cId="0" sldId="265"/>
            <ac:spMk id="7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45.485" v="110" actId="103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45.485" v="110" actId="103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39.648" v="87" actId="103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39.648" v="87" actId="103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45.485" v="110" actId="103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2:45.485" v="110" actId="103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3:26.189" v="138" actId="14100"/>
          <ac:spMkLst>
            <pc:docMk/>
            <pc:sldMk cId="0" sldId="265"/>
            <ac:spMk id="25" creationId="{00000000-0000-0000-0000-000000000000}"/>
          </ac:spMkLst>
        </pc:spChg>
      </pc:sldChg>
      <pc:sldChg chg="modSp mod">
        <pc:chgData name="Park, Jongsik" userId="d7b7e262-8d20-4a71-ad9e-f2feff73a6eb" providerId="ADAL" clId="{522EF78A-31B1-482D-9DB9-2220346151C9}" dt="2026-10-19T04:03:39.598" v="139" actId="1076"/>
        <pc:sldMkLst>
          <pc:docMk/>
          <pc:sldMk cId="0" sldId="266"/>
        </pc:sldMkLst>
        <pc:spChg chg="mod">
          <ac:chgData name="Park, Jongsik" userId="d7b7e262-8d20-4a71-ad9e-f2feff73a6eb" providerId="ADAL" clId="{522EF78A-31B1-482D-9DB9-2220346151C9}" dt="2026-10-19T04:03:39.598" v="139" actId="1076"/>
          <ac:spMkLst>
            <pc:docMk/>
            <pc:sldMk cId="0" sldId="266"/>
            <ac:spMk id="27" creationId="{00000000-0000-0000-0000-000000000000}"/>
          </ac:spMkLst>
        </pc:spChg>
      </pc:sldChg>
      <pc:sldChg chg="modSp mod">
        <pc:chgData name="Park, Jongsik" userId="d7b7e262-8d20-4a71-ad9e-f2feff73a6eb" providerId="ADAL" clId="{522EF78A-31B1-482D-9DB9-2220346151C9}" dt="2026-10-19T04:04:33.027" v="157" actId="1076"/>
        <pc:sldMkLst>
          <pc:docMk/>
          <pc:sldMk cId="0" sldId="267"/>
        </pc:sldMkLst>
        <pc:spChg chg="mod">
          <ac:chgData name="Park, Jongsik" userId="d7b7e262-8d20-4a71-ad9e-f2feff73a6eb" providerId="ADAL" clId="{522EF78A-31B1-482D-9DB9-2220346151C9}" dt="2026-10-19T04:03:55.990" v="146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4:04.416" v="148" actId="207"/>
          <ac:spMkLst>
            <pc:docMk/>
            <pc:sldMk cId="0" sldId="267"/>
            <ac:spMk id="4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4:29.287" v="156" actId="14100"/>
          <ac:spMkLst>
            <pc:docMk/>
            <pc:sldMk cId="0" sldId="267"/>
            <ac:spMk id="5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3:13.992" v="135" actId="1036"/>
          <ac:spMkLst>
            <pc:docMk/>
            <pc:sldMk cId="0" sldId="267"/>
            <ac:spMk id="7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4:26.685" v="155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3:13.992" v="135" actId="1036"/>
          <ac:spMkLst>
            <pc:docMk/>
            <pc:sldMk cId="0" sldId="267"/>
            <ac:spMk id="9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3:13.992" v="135" actId="10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3:13.992" v="135" actId="103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3:12.274" v="112" actId="2763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3:13.992" v="135" actId="103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3:13.992" v="135" actId="103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3:12.284" v="114" actId="2763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3:13.992" v="135" actId="103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3:13.992" v="135" actId="103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4:33.027" v="157" actId="107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Park, Jongsik" userId="d7b7e262-8d20-4a71-ad9e-f2feff73a6eb" providerId="ADAL" clId="{522EF78A-31B1-482D-9DB9-2220346151C9}" dt="2026-10-19T04:03:42.778" v="140" actId="1076"/>
          <ac:spMkLst>
            <pc:docMk/>
            <pc:sldMk cId="0" sldId="267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 질문: “반복 업무 하나를 웹 버튼으로 바꿀 수 있다면 무엇을 바꾸고 싶습니까?”
오늘의 목적은 개발자 양성이 아니라, 엔지니어가 자기 업무의 작은 불편을 직접 프로토타입으로 바꾸는 첫 경험을 만드는 것입니다.
[Sources]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설계와 코딩을 동일하다고 말하는 것이 아니라, 요구조건 → 초안 → 검증 → 개선이라는 엔지니어링 사고가 그대로 활용된다는 점을 강조합니다.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에이전트는 여러 파일을 찾고 수정하며 검사까지 수행할 수 있지만, 반복 제어와 검토는 사용자에게 남아 있습니다.
[Sources]
- VS Code official: https://code.visualstudio.com/docs/agents/overview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Repository는 코드, 파일, 각 파일의 변경 이력을 포함하며 협업의 단위가 됩니다. GitHub와 로컬 저장소는 push/pull로 동기화합니다.
[Sources]
- GitHub Docs: https://docs.github.com/en/repositories
- GitHub Docs: https://docs.github.com/en/get-started/git-basics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처음부터 데이터베이스, 로그인, 외부 시스템 연계를 넣지 않습니다. 작은 정적 웹 앱으로 가치와 요구사항을 먼저 확인한 뒤 확장합니다.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프롬프트를 사양서처럼 작성하면 생성물의 검증 가능성이 높아집니다. 회사 표준 공식과 허용오차는 반드시 사람이 제공하고 결과를 대조해야 합니다.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표시된 수치는 단순 예시 화면입니다. 실제 업무 도구에서는 회사 공식과 제품 데이터, 마찰·압력강하·동특성 등 적용 조건을 별도로 검증해야 합니다.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팀원의 첫 과제는 각자 “매주 반복하고, 규칙이 명확하며, 30분 안에 결과를 대조할 수 있는 업무” 한 가지를 고르는 것입니다.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공식 문서에서는 Repository를 코드, 파일 및 각 파일의 revision history를 담는 협업 단위로 설명합니다.
[Sources]
- GitHub Docs: https://docs.github.com/en/repositories
- GitHub Docs: https://docs.github.com/en/get-started/git-basics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조직의 정보보호, 오픈소스, 소프트웨어 배포 정책이 우선입니다. 화면 데모를 실제 설계 승인 도구로 확대할 때는 별도 검토가 필요합니다.
[Sources]
- VS Code official: https://code.visualstudio.com/docs/agents/overview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진행자는 예제를 따라 쓰게 하기보다 각자의 업무 문제를 선택하게 합니다. 막히면 기능을 줄이고, 정적 데이터와 한 화면으로 되돌아갑니다.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질문: “여러분이 이번 주 가장 먼저 웹 도구로 바꿔보고 싶은 업무는 무엇입니까?” 다음 세션에서는 각 Repository를 함께 열어 결과보다 문제 정의와 검증 방식을 공유합니다.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B6D9"/>
          </a:solidFill>
          <a:ln w="127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A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 ×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D7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VIBE CODING BASICS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8E1E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Shape 0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102A43">
              <a:alpha val="96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658368" y="10058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코딩보다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문제 해결부터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85800" y="28163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AF2"/>
                </a:solidFill>
              </a:rPr>
              <a:t>Mechanical Engineer를 위한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CEAF2"/>
                </a:solidFill>
              </a:rPr>
              <a:t>GitHub × VS Code Vibe Coding 입문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391363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8B6D9"/>
          </a:solidFill>
          <a:ln w="127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58952" y="400534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IDEA → 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240280" y="391363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2313432" y="40053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 → CODE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4709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목표: “소프트웨어는 어려워”에서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“작은 업무 도구는 내가 만들 수 있어”로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30" dirty="0">
                <a:solidFill>
                  <a:srgbClr val="AFC6D5"/>
                </a:solidFill>
              </a:rPr>
              <a:t>Mecha - CS  |  Intro Session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5" name="Image 0" descr="/mnt/data/cover_photo_clean.png">
            <a:extLst>
              <a:ext uri="{FF2B5EF4-FFF2-40B4-BE49-F238E27FC236}">
                <a16:creationId xmlns:a16="http://schemas.microsoft.com/office/drawing/2014/main" id="{31CEB722-EAF9-DFC5-684B-8E7ED04A1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6473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8B6D9"/>
                </a:solidFill>
              </a:rPr>
              <a:t>01 · MINDSET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</a:rPr>
              <a:t>우리는 이미 ‘설계 언어’를 사용하고 있습니다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17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58A"/>
                </a:solidFill>
              </a:rPr>
              <a:t>Vibe Coding은 그 언어를 소프트웨어 제작에도 적용하는 방식입니다.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B7C5D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333756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258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Mechanical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308152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50" dirty="0">
                <a:solidFill>
                  <a:srgbClr val="203040"/>
                </a:solidFill>
              </a:rPr>
              <a:t>요구사항 정의</a:t>
            </a:r>
            <a:endParaRPr lang="en-US" sz="1150" dirty="0"/>
          </a:p>
          <a:p>
            <a:r>
              <a:rPr lang="en-US" sz="1150" dirty="0">
                <a:solidFill>
                  <a:srgbClr val="203040"/>
                </a:solidFill>
              </a:rPr>
              <a:t>하중·속도·환경 조건</a:t>
            </a:r>
            <a:endParaRPr lang="en-US" sz="1150" dirty="0"/>
          </a:p>
          <a:p>
            <a:r>
              <a:rPr lang="en-US" sz="1150" dirty="0">
                <a:solidFill>
                  <a:srgbClr val="203040"/>
                </a:solidFill>
              </a:rPr>
              <a:t>구조안 생성</a:t>
            </a:r>
            <a:endParaRPr lang="en-US" sz="1150" dirty="0"/>
          </a:p>
          <a:p>
            <a:r>
              <a:rPr lang="en-US" sz="1150" dirty="0">
                <a:solidFill>
                  <a:srgbClr val="203040"/>
                </a:solidFill>
              </a:rPr>
              <a:t>검증과 수정</a:t>
            </a:r>
            <a:endParaRPr lang="en-US" sz="1150" dirty="0"/>
          </a:p>
          <a:p>
            <a:r>
              <a:rPr lang="en-US" sz="1150" dirty="0">
                <a:solidFill>
                  <a:srgbClr val="203040"/>
                </a:solidFill>
              </a:rPr>
              <a:t>출도 및 변경 이력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205740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B7C5D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34256" y="2057400"/>
            <a:ext cx="73152" cy="3337560"/>
          </a:xfrm>
          <a:prstGeom prst="rect">
            <a:avLst/>
          </a:prstGeom>
          <a:solidFill>
            <a:srgbClr val="18B6D9"/>
          </a:solidFill>
          <a:ln w="127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62856" y="2258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Vibe Coding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2856" y="2697480"/>
            <a:ext cx="308152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50" dirty="0">
                <a:solidFill>
                  <a:srgbClr val="203040"/>
                </a:solidFill>
              </a:rPr>
              <a:t>원하는 결과 설명</a:t>
            </a:r>
            <a:endParaRPr lang="en-US" sz="1150" dirty="0"/>
          </a:p>
          <a:p>
            <a:r>
              <a:rPr lang="en-US" sz="1150" dirty="0">
                <a:solidFill>
                  <a:srgbClr val="203040"/>
                </a:solidFill>
              </a:rPr>
              <a:t>화면·데이터 조건 제시</a:t>
            </a:r>
            <a:endParaRPr lang="en-US" sz="1150" dirty="0"/>
          </a:p>
          <a:p>
            <a:r>
              <a:rPr lang="en-US" sz="1150" dirty="0">
                <a:solidFill>
                  <a:srgbClr val="203040"/>
                </a:solidFill>
              </a:rPr>
              <a:t>AI가 초안 생성</a:t>
            </a:r>
            <a:endParaRPr lang="en-US" sz="1150" dirty="0"/>
          </a:p>
          <a:p>
            <a:r>
              <a:rPr lang="en-US" sz="1150" dirty="0">
                <a:solidFill>
                  <a:srgbClr val="203040"/>
                </a:solidFill>
              </a:rPr>
              <a:t>실행·확인·수정</a:t>
            </a:r>
            <a:endParaRPr lang="en-US" sz="1150" dirty="0"/>
          </a:p>
          <a:p>
            <a:r>
              <a:rPr lang="en-US" sz="1150" dirty="0">
                <a:solidFill>
                  <a:srgbClr val="203040"/>
                </a:solidFill>
              </a:rPr>
              <a:t>Git으로 버전 기록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28432" y="205740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B7C5D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28432" y="2057400"/>
            <a:ext cx="73152" cy="333756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57032" y="2258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공통 핵심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57032" y="2697480"/>
            <a:ext cx="308152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50" dirty="0">
                <a:solidFill>
                  <a:srgbClr val="203040"/>
                </a:solidFill>
              </a:rPr>
              <a:t>좋은 입력 조건</a:t>
            </a:r>
            <a:endParaRPr lang="en-US" sz="1150" dirty="0"/>
          </a:p>
          <a:p>
            <a:r>
              <a:rPr lang="en-US" sz="1150" dirty="0">
                <a:solidFill>
                  <a:srgbClr val="203040"/>
                </a:solidFill>
              </a:rPr>
              <a:t>작은 단위로 나누기</a:t>
            </a:r>
            <a:endParaRPr lang="en-US" sz="1150" dirty="0"/>
          </a:p>
          <a:p>
            <a:r>
              <a:rPr lang="en-US" sz="1150" dirty="0">
                <a:solidFill>
                  <a:srgbClr val="203040"/>
                </a:solidFill>
              </a:rPr>
              <a:t>검증 기준 보유</a:t>
            </a:r>
            <a:endParaRPr lang="en-US" sz="1150" dirty="0"/>
          </a:p>
          <a:p>
            <a:r>
              <a:rPr lang="en-US" sz="1150" dirty="0">
                <a:solidFill>
                  <a:srgbClr val="203040"/>
                </a:solidFill>
              </a:rPr>
              <a:t>변경 이유 기록</a:t>
            </a:r>
            <a:endParaRPr lang="en-US" sz="1150" dirty="0"/>
          </a:p>
          <a:p>
            <a:r>
              <a:rPr lang="en-US" sz="1150" dirty="0">
                <a:solidFill>
                  <a:srgbClr val="203040"/>
                </a:solidFill>
              </a:rPr>
              <a:t>최종 책임은 사람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574243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핵심 메시지  |  “코드를 모두 외우는 능력”보다 “문제를 정확히 설명하고 결과를 검증하는 능력”이 먼저입니다.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8B6D9"/>
                </a:solidFill>
              </a:rPr>
              <a:t>02 ·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</a:rPr>
              <a:t>Vibe Coding이란 무엇인가?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17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58A"/>
                </a:solidFill>
              </a:rPr>
              <a:t>자연어로 의도를 전달하고, AI가 만든 코드를 실행하면서 짧은 피드백 루프로 완성하는 작업 방식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1508760" cy="1508760"/>
          </a:xfrm>
          <a:prstGeom prst="ellipse">
            <a:avLst/>
          </a:prstGeom>
          <a:solidFill>
            <a:srgbClr val="102A4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28434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1. 설명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3040"/>
                </a:solidFill>
              </a:rPr>
              <a:t>업무 문제와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3040"/>
                </a:solidFill>
              </a:rPr>
              <a:t>완료 조건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2688336"/>
            <a:ext cx="438912" cy="502920"/>
          </a:xfrm>
          <a:prstGeom prst="chevron">
            <a:avLst/>
          </a:prstGeom>
          <a:solidFill>
            <a:srgbClr val="92A8B8"/>
          </a:solidFill>
          <a:ln w="12700">
            <a:solidFill>
              <a:srgbClr val="92A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80360" y="2212848"/>
            <a:ext cx="1508760" cy="1508760"/>
          </a:xfrm>
          <a:prstGeom prst="ellipse">
            <a:avLst/>
          </a:prstGeom>
          <a:solidFill>
            <a:srgbClr val="102A4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971800" y="28434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2. 생성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39319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3040"/>
                </a:solidFill>
              </a:rPr>
              <a:t>파일·코드·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3040"/>
                </a:solidFill>
              </a:rPr>
              <a:t>명령 제안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07992" y="2688336"/>
            <a:ext cx="438912" cy="502920"/>
          </a:xfrm>
          <a:prstGeom prst="chevron">
            <a:avLst/>
          </a:prstGeom>
          <a:solidFill>
            <a:srgbClr val="92A8B8"/>
          </a:solidFill>
          <a:ln w="12700">
            <a:solidFill>
              <a:srgbClr val="92A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120640" y="2212848"/>
            <a:ext cx="1508760" cy="1508760"/>
          </a:xfrm>
          <a:prstGeom prst="ellipse">
            <a:avLst/>
          </a:prstGeom>
          <a:solidFill>
            <a:srgbClr val="102A4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12080" y="28434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3. 실행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9319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3040"/>
                </a:solidFill>
              </a:rPr>
              <a:t>브라우저에서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3040"/>
                </a:solidFill>
              </a:rPr>
              <a:t>직접 확인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48272" y="2688336"/>
            <a:ext cx="438912" cy="502920"/>
          </a:xfrm>
          <a:prstGeom prst="chevron">
            <a:avLst/>
          </a:prstGeom>
          <a:solidFill>
            <a:srgbClr val="92A8B8"/>
          </a:solidFill>
          <a:ln w="12700">
            <a:solidFill>
              <a:srgbClr val="92A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60920" y="2212848"/>
            <a:ext cx="1508760" cy="1508760"/>
          </a:xfrm>
          <a:prstGeom prst="ellipse">
            <a:avLst/>
          </a:prstGeom>
          <a:solidFill>
            <a:srgbClr val="102A4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52360" y="28434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4. 관찰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39319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3040"/>
                </a:solidFill>
              </a:rPr>
              <a:t>오류·불편·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3040"/>
                </a:solidFill>
              </a:rPr>
              <a:t>누락 발견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88552" y="2688336"/>
            <a:ext cx="438912" cy="502920"/>
          </a:xfrm>
          <a:prstGeom prst="chevron">
            <a:avLst/>
          </a:prstGeom>
          <a:solidFill>
            <a:srgbClr val="92A8B8"/>
          </a:solidFill>
          <a:ln w="12700">
            <a:solidFill>
              <a:srgbClr val="92A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601200" y="2212848"/>
            <a:ext cx="1508760" cy="1508760"/>
          </a:xfrm>
          <a:prstGeom prst="ellipse">
            <a:avLst/>
          </a:prstGeom>
          <a:solidFill>
            <a:srgbClr val="18B6D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692640" y="28434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5. 개선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09760" y="39319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3040"/>
                </a:solidFill>
              </a:rPr>
              <a:t>프롬프트와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3040"/>
                </a:solidFill>
              </a:rPr>
              <a:t>코드 수정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88720" y="5074920"/>
            <a:ext cx="9784080" cy="777240"/>
          </a:xfrm>
          <a:prstGeom prst="roundRect">
            <a:avLst/>
          </a:prstGeom>
          <a:solidFill>
            <a:srgbClr val="EAF6FA"/>
          </a:solidFill>
          <a:ln w="12700">
            <a:solidFill>
              <a:srgbClr val="B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336157" y="5321808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한 번에 완벽한 프롬프트를 쓰는 것이 목표가 아닙니다.  작게 만들고 → 눈으로 보고 → 구체적으로 고치는 것이 핵심입니다.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8B6D9"/>
                </a:solidFill>
              </a:rPr>
              <a:t>03 · TOOL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</a:rPr>
              <a:t>GitHub와 VS Code는 각각 무엇을 하나?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17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58A"/>
                </a:solidFill>
              </a:rPr>
              <a:t>쉽게 말해 VS Code는 작업대, GitHub는 변경 이력이 남는 공동 보관소입니다.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501667"/>
            <a:ext cx="3291840" cy="29200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0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4128" y="283999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77FF"/>
                </a:solidFill>
              </a:rPr>
              <a:t>VS CODE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3297195"/>
            <a:ext cx="25848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내 PC의 제작 작업대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3781827"/>
            <a:ext cx="280896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• 파일 열기·수정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• Copilot Chat / Agent에 자연어 지시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• 앱 실행, 오류 확인, 터미널 사용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• 변경 전후 비교 및 승인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74677" y="2196634"/>
            <a:ext cx="3416454" cy="3337560"/>
          </a:xfrm>
          <a:prstGeom prst="roundRect">
            <a:avLst/>
          </a:prstGeom>
          <a:solidFill>
            <a:schemeClr val="bg1"/>
          </a:solidFill>
          <a:ln w="15240">
            <a:solidFill>
              <a:srgbClr val="BFD0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013005" y="253496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GITHUB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13005" y="2992162"/>
            <a:ext cx="29223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프로젝트의 기록·공유 저장소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13005" y="3476794"/>
            <a:ext cx="292238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• Repository에 코드·파일·이력 저장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• Commit으로 변경 시점 기록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• Branch로 안전하게 실험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• 동료 리뷰와 복구의 기준점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8BFB72F-C11F-8573-000E-904847AE1311}"/>
              </a:ext>
            </a:extLst>
          </p:cNvPr>
          <p:cNvSpPr/>
          <p:nvPr/>
        </p:nvSpPr>
        <p:spPr>
          <a:xfrm>
            <a:off x="6920297" y="3202474"/>
            <a:ext cx="978408" cy="484632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C7E625C-5488-955F-008B-78590CF50277}"/>
              </a:ext>
            </a:extLst>
          </p:cNvPr>
          <p:cNvSpPr/>
          <p:nvPr/>
        </p:nvSpPr>
        <p:spPr>
          <a:xfrm rot="10800000">
            <a:off x="6805997" y="3677962"/>
            <a:ext cx="978408" cy="484632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9630DB3-94C0-6EB7-10DC-F47FCC42D1EB}"/>
              </a:ext>
            </a:extLst>
          </p:cNvPr>
          <p:cNvSpPr/>
          <p:nvPr/>
        </p:nvSpPr>
        <p:spPr>
          <a:xfrm>
            <a:off x="6687125" y="381641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Git PULL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87125" y="3331781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Git PUSH 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148A24E-C89A-3413-4FF3-9DC8C3E46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314" y="2710178"/>
            <a:ext cx="571580" cy="54300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D10D808-B169-7C5E-27F2-444D3BCDF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157" y="2438351"/>
            <a:ext cx="542379" cy="47163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C6667438-D73D-4471-18A1-74CAAF4EC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289" y="3030492"/>
            <a:ext cx="1266960" cy="890635"/>
          </a:xfrm>
          <a:prstGeom prst="rect">
            <a:avLst/>
          </a:prstGeom>
        </p:spPr>
      </p:pic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195EAD2A-217D-EF0D-9DA5-9F915B4693BE}"/>
              </a:ext>
            </a:extLst>
          </p:cNvPr>
          <p:cNvSpPr/>
          <p:nvPr/>
        </p:nvSpPr>
        <p:spPr>
          <a:xfrm>
            <a:off x="4154499" y="3333856"/>
            <a:ext cx="978408" cy="48463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AD9FDB0D-153E-8273-4193-B8836A3C4E5F}"/>
              </a:ext>
            </a:extLst>
          </p:cNvPr>
          <p:cNvSpPr/>
          <p:nvPr/>
        </p:nvSpPr>
        <p:spPr>
          <a:xfrm>
            <a:off x="3921327" y="34631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Git COMMIT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AB9EA23-D15E-DB32-6839-AB2E53804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368" y="3748656"/>
            <a:ext cx="506432" cy="477159"/>
          </a:xfrm>
          <a:prstGeom prst="rect">
            <a:avLst/>
          </a:prstGeom>
        </p:spPr>
      </p:pic>
      <p:sp>
        <p:nvSpPr>
          <p:cNvPr id="33" name="Text 12">
            <a:extLst>
              <a:ext uri="{FF2B5EF4-FFF2-40B4-BE49-F238E27FC236}">
                <a16:creationId xmlns:a16="http://schemas.microsoft.com/office/drawing/2014/main" id="{5F27D215-3250-D369-F007-89DC2AD448DA}"/>
              </a:ext>
            </a:extLst>
          </p:cNvPr>
          <p:cNvSpPr/>
          <p:nvPr/>
        </p:nvSpPr>
        <p:spPr>
          <a:xfrm>
            <a:off x="5404258" y="4313399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Local Folder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8B6D9"/>
                </a:solidFill>
              </a:rPr>
              <a:t>04 ·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</a:rPr>
              <a:t>자연어 한 문장에서 실제 웹 도구까지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17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58A"/>
                </a:solidFill>
              </a:rPr>
              <a:t>처음에는 “한 화면, 한 기능, 가짜 데이터”로 시작하면 성공 확률이 높습니다.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1965960" cy="2999232"/>
          </a:xfrm>
          <a:prstGeom prst="roundRect">
            <a:avLst/>
          </a:prstGeom>
          <a:solidFill>
            <a:srgbClr val="E9F2FF"/>
          </a:solidFill>
          <a:ln w="1524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① 문제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92608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현장에서 반복 입력하는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실린더 선정표를 웹화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3218688"/>
            <a:ext cx="274320" cy="502920"/>
          </a:xfrm>
          <a:prstGeom prst="chevron">
            <a:avLst/>
          </a:prstGeom>
          <a:solidFill>
            <a:srgbClr val="18B6D9"/>
          </a:solidFill>
          <a:ln w="127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71216" y="2057400"/>
            <a:ext cx="1965960" cy="2999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54096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② 조건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54096" y="292608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입력값·단위·공식·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경고 기준을 명시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64608" y="3218688"/>
            <a:ext cx="274320" cy="502920"/>
          </a:xfrm>
          <a:prstGeom prst="chevron">
            <a:avLst/>
          </a:prstGeom>
          <a:solidFill>
            <a:srgbClr val="18B6D9"/>
          </a:solidFill>
          <a:ln w="127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175504" y="2057400"/>
            <a:ext cx="1965960" cy="2999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58384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③ 생성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58384" y="292608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HTML/CSS/JS 파일과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실행 방법 생성 요청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68896" y="3218688"/>
            <a:ext cx="274320" cy="502920"/>
          </a:xfrm>
          <a:prstGeom prst="chevron">
            <a:avLst/>
          </a:prstGeom>
          <a:solidFill>
            <a:srgbClr val="18B6D9"/>
          </a:solidFill>
          <a:ln w="127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479792" y="2057400"/>
            <a:ext cx="1965960" cy="2999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662672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④ 검증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62672" y="292608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샘플 값으로 계산·UI·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예외 조건 확인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73184" y="3218688"/>
            <a:ext cx="274320" cy="502920"/>
          </a:xfrm>
          <a:prstGeom prst="chevron">
            <a:avLst/>
          </a:prstGeom>
          <a:solidFill>
            <a:srgbClr val="18B6D9"/>
          </a:solidFill>
          <a:ln w="127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784080" y="2057400"/>
            <a:ext cx="1965960" cy="2999232"/>
          </a:xfrm>
          <a:prstGeom prst="roundRect">
            <a:avLst/>
          </a:prstGeom>
          <a:solidFill>
            <a:srgbClr val="E7F7F1"/>
          </a:solidFill>
          <a:ln w="1524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96696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A06B"/>
                </a:solidFill>
              </a:rPr>
              <a:t>⑤ 기록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66960" y="292608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Commit 후 개선 요청을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Issue로 남기기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55138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추천 첫 성공 기준:  브라우저에서 열림  |  입력이 동작함  |  결과가 보임  |  다시 되돌릴 수 있음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8B6D9"/>
                </a:solidFill>
              </a:rPr>
              <a:t>05 · PROMPT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</a:rPr>
              <a:t>좋은 프롬프트는 Engineering Specification과 닮았습니다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17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58A"/>
                </a:solidFill>
              </a:rPr>
              <a:t>모호한 “예쁘게 만들어줘”보다 목적, 입력, 규칙, 출력, 완료 조건을 적습니다.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47672"/>
            <a:ext cx="5394960" cy="3611880"/>
          </a:xfrm>
          <a:prstGeom prst="roundRect">
            <a:avLst/>
          </a:prstGeom>
          <a:solidFill>
            <a:srgbClr val="FFF5F4"/>
          </a:solidFill>
          <a:ln w="12700">
            <a:solidFill>
              <a:srgbClr val="F1B7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41832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64545"/>
                </a:solidFill>
              </a:rPr>
              <a:t>약한 요청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41832" y="27432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3040"/>
                </a:solidFill>
              </a:rPr>
              <a:t>“실린더 계산기 웹페이지 만들어줘.”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3401568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58A"/>
                </a:solidFill>
              </a:rPr>
              <a:t>문제점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0758A"/>
                </a:solidFill>
              </a:rPr>
              <a:t>• 단위와 계산 규칙이 없음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0758A"/>
                </a:solidFill>
              </a:rPr>
              <a:t>• 화면과 경고 기준이 없음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0758A"/>
                </a:solidFill>
              </a:rPr>
              <a:t>• 검증할 샘플 값이 없음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47672"/>
            <a:ext cx="5285232" cy="3611880"/>
          </a:xfrm>
          <a:prstGeom prst="roundRect">
            <a:avLst/>
          </a:prstGeom>
          <a:solidFill>
            <a:srgbClr val="EEFAF6"/>
          </a:solidFill>
          <a:ln w="12700">
            <a:solidFill>
              <a:srgbClr val="9DDA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565392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A06B"/>
                </a:solidFill>
              </a:rPr>
              <a:t>강한 요청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65392" y="2697480"/>
            <a:ext cx="4572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203040"/>
                </a:solidFill>
              </a:rPr>
              <a:t>“공압 실린더 추력 계산 웹앱을 만들어줘.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203040"/>
                </a:solidFill>
              </a:rPr>
              <a:t>입력: 압력 bar, 보어 mm, 부하 N.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203040"/>
                </a:solidFill>
              </a:rPr>
              <a:t>출력: 이론 추력 N과 안전율.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203040"/>
                </a:solidFill>
              </a:rPr>
              <a:t>안전율 1.5 미만은 빨간 경고.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203040"/>
                </a:solidFill>
              </a:rPr>
              <a:t>샘플 6 bar, Ø32 mm, 300 N으로 확인.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203040"/>
                </a:solidFill>
              </a:rPr>
              <a:t>모바일에서도 보이게 하고 README 작성.”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8B6D9"/>
                </a:solidFill>
              </a:rPr>
              <a:t>06 ·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</a:rPr>
              <a:t>데모 예제 1  |  Cylinder Force Quick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17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58A"/>
                </a:solidFill>
              </a:rPr>
              <a:t>반복 계산을 “입력 → 판정 → 기록” 가능한 한 화면 도구로 바꾸는 예시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47672"/>
            <a:ext cx="65836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87552" y="22677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Cylinder Force Quick Check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953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58A"/>
                </a:solidFill>
              </a:rPr>
              <a:t>Pressure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2880360"/>
            <a:ext cx="2194560" cy="43891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6D3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331720" y="2990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040"/>
                </a:solidFill>
              </a:rPr>
              <a:t>6.0 bar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5935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58A"/>
                </a:solidFill>
              </a:rPr>
              <a:t>Bore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3520440"/>
            <a:ext cx="2194560" cy="43891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6D3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331720" y="3630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040"/>
                </a:solidFill>
              </a:rPr>
              <a:t>32 mm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233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58A"/>
                </a:solidFill>
              </a:rPr>
              <a:t>Load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4160520"/>
            <a:ext cx="2194560" cy="43891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6D3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331720" y="42702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040"/>
                </a:solidFill>
              </a:rPr>
              <a:t>300 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552" y="4892040"/>
            <a:ext cx="3355848" cy="530352"/>
          </a:xfrm>
          <a:prstGeom prst="round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170432" y="505663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CALCULATE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871216"/>
            <a:ext cx="2148840" cy="2551176"/>
          </a:xfrm>
          <a:prstGeom prst="roundRect">
            <a:avLst/>
          </a:prstGeom>
          <a:solidFill>
            <a:srgbClr val="ECF9F4"/>
          </a:solidFill>
          <a:ln w="12700">
            <a:solidFill>
              <a:srgbClr val="A4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956048" y="3200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A06B"/>
                </a:solidFill>
              </a:rPr>
              <a:t>RESULT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7307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2A43"/>
                </a:solidFill>
              </a:rPr>
              <a:t>483 N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892040" y="43708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A06B"/>
                </a:solidFill>
              </a:rPr>
              <a:t>Safety factor 1.61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2A06B"/>
                </a:solidFill>
              </a:rPr>
              <a:t>PASS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71232" y="1947672"/>
            <a:ext cx="3977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B7C5D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571232" y="1947672"/>
            <a:ext cx="73152" cy="107899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799832" y="2148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왜 좋은 첫 예제인가?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99832" y="25877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50" dirty="0">
                <a:solidFill>
                  <a:srgbClr val="203040"/>
                </a:solidFill>
              </a:rPr>
              <a:t>입·출력이 명확하고 기존 계산으로 즉시 검증 가능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71232" y="3246120"/>
            <a:ext cx="3977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B7C5D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571232" y="3246120"/>
            <a:ext cx="73152" cy="1078992"/>
          </a:xfrm>
          <a:prstGeom prst="rect">
            <a:avLst/>
          </a:prstGeom>
          <a:solidFill>
            <a:srgbClr val="18B6D9"/>
          </a:solidFill>
          <a:ln w="127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799832" y="34472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다음 개선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99832" y="388620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50" dirty="0">
                <a:solidFill>
                  <a:srgbClr val="203040"/>
                </a:solidFill>
              </a:rPr>
              <a:t>단위 전환, 로드율, 공급압 변동, PDF 출력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71232" y="4544568"/>
            <a:ext cx="3977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B7C5D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571232" y="4544568"/>
            <a:ext cx="73152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799832" y="4745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반드시 확인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99832" y="518464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50" dirty="0">
                <a:solidFill>
                  <a:srgbClr val="203040"/>
                </a:solidFill>
              </a:rPr>
              <a:t>회사 설계 기준·마찰·안전계수는 검증 후 적용</a:t>
            </a:r>
            <a:endParaRPr lang="en-US" sz="11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8B6D9"/>
                </a:solidFill>
              </a:rPr>
              <a:t>07 · USE CASES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</a:rPr>
              <a:t>Mechanical Engineer가 바로 시도할 수 있는 작은 웹 도구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17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58A"/>
                </a:solidFill>
              </a:rPr>
              <a:t>“업무 판단을 대신하는 도구”보다 “반복 작업을 줄이고 판단 근거를 보여주는 도구”부터 시작합니다.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" y="2057400"/>
            <a:ext cx="198424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07008" y="2377440"/>
            <a:ext cx="731520" cy="7315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99032" y="25786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3364992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견적·선정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3977640"/>
            <a:ext cx="1618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Actuator sizing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BOM 옵션 비교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단위 변환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2057400"/>
            <a:ext cx="198424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511296" y="2377440"/>
            <a:ext cx="731520" cy="731520"/>
          </a:xfrm>
          <a:prstGeom prst="ellipse">
            <a:avLst/>
          </a:prstGeom>
          <a:solidFill>
            <a:srgbClr val="18B6D9"/>
          </a:solidFill>
          <a:ln w="127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703320" y="25786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63240" y="3364992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설계 검토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63240" y="3977640"/>
            <a:ext cx="1618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Checklist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Tolerance stack memo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Interface 확인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84648" y="2057400"/>
            <a:ext cx="198424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815584" y="2377440"/>
            <a:ext cx="731520" cy="731520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007608" y="25786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67528" y="3364992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현장·서비스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67528" y="3977640"/>
            <a:ext cx="1618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Troubleshooting tree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설치 점검표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사진·조치 기록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88936" y="2057400"/>
            <a:ext cx="198424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119872" y="237744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311896" y="25786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71816" y="3364992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Project Lead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71816" y="3977640"/>
            <a:ext cx="1618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Milestone 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Action tracker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Risk heatmap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93224" y="2057400"/>
            <a:ext cx="198424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0424160" y="2377440"/>
            <a:ext cx="731520" cy="731520"/>
          </a:xfrm>
          <a:prstGeom prst="ellipse">
            <a:avLst/>
          </a:prstGeom>
          <a:solidFill>
            <a:srgbClr val="6B5DD3"/>
          </a:solidFill>
          <a:ln w="12700">
            <a:solidFill>
              <a:srgbClr val="6B5D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616184" y="25786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76104" y="3364992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표준화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76104" y="3977640"/>
            <a:ext cx="1618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Template generator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Design rule lookup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3040"/>
                </a:solidFill>
              </a:rPr>
              <a:t>Lessons learned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57150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고르기 기준  |  매주 반복  ×  규칙이 명확  ×  결과를 사람이 검증 가능  ×  민감정보 없이 시작 가능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8B6D9"/>
                </a:solidFill>
              </a:rPr>
              <a:t>08 · GITHUB BASICS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</a:rPr>
              <a:t>GitHub에서 최소한 이것만 알면 됩니다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17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58A"/>
                </a:solidFill>
              </a:rPr>
              <a:t>초보자는 다섯 개 단어와 흐름만 이해해도 프로젝트를 안전하게 운영할 수 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2309810"/>
            <a:ext cx="2057400" cy="5029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32688" y="245611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Repository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3240" y="243782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프로젝트 폴더 + 변경 이력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05088" y="243782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758A"/>
                </a:solidFill>
              </a:rPr>
              <a:t>프로젝트 상자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2565842"/>
            <a:ext cx="210312" cy="1"/>
          </a:xfrm>
          <a:prstGeom prst="line">
            <a:avLst/>
          </a:prstGeom>
          <a:noFill/>
          <a:ln w="254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49808" y="3105338"/>
            <a:ext cx="2057400" cy="502920"/>
          </a:xfrm>
          <a:prstGeom prst="round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32688" y="325164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323335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설명과 함께 남기는 저장 지점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05088" y="323335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758A"/>
                </a:solidFill>
              </a:rPr>
              <a:t>체크포인트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3361370"/>
            <a:ext cx="210312" cy="1"/>
          </a:xfrm>
          <a:prstGeom prst="line">
            <a:avLst/>
          </a:prstGeom>
          <a:noFill/>
          <a:ln w="254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49808" y="3900866"/>
            <a:ext cx="2057400" cy="502920"/>
          </a:xfrm>
          <a:prstGeom prst="round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32688" y="404717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63240" y="402888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원본을 건드리지 않는 실험 공간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05088" y="402888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758A"/>
                </a:solidFill>
              </a:rPr>
              <a:t>안전한 사본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4156898"/>
            <a:ext cx="210312" cy="1"/>
          </a:xfrm>
          <a:prstGeom prst="line">
            <a:avLst/>
          </a:prstGeom>
          <a:noFill/>
          <a:ln w="254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49808" y="4696394"/>
            <a:ext cx="2057400" cy="502920"/>
          </a:xfrm>
          <a:prstGeom prst="round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32688" y="484269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Push / Pull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63240" y="482441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내 PC와 GitHub 간 동기화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05088" y="482441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758A"/>
                </a:solidFill>
              </a:rPr>
              <a:t>업로드·다운로드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34640" y="4952426"/>
            <a:ext cx="210312" cy="1"/>
          </a:xfrm>
          <a:prstGeom prst="line">
            <a:avLst/>
          </a:prstGeom>
          <a:noFill/>
          <a:ln w="254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49808" y="5491922"/>
            <a:ext cx="2057400" cy="502920"/>
          </a:xfrm>
          <a:prstGeom prst="round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32688" y="563822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63240" y="561993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목적·실행법·주의사항 설명서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05088" y="561993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758A"/>
                </a:solidFill>
              </a:rPr>
              <a:t>사용설명서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34640" y="5747954"/>
            <a:ext cx="210312" cy="1"/>
          </a:xfrm>
          <a:prstGeom prst="line">
            <a:avLst/>
          </a:prstGeom>
          <a:noFill/>
          <a:ln w="254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001000" y="2300666"/>
            <a:ext cx="3337560" cy="3822192"/>
          </a:xfrm>
          <a:prstGeom prst="roundRect">
            <a:avLst/>
          </a:prstGeom>
          <a:solidFill>
            <a:srgbClr val="EAF6FA"/>
          </a:solidFill>
          <a:ln w="12700">
            <a:solidFill>
              <a:srgbClr val="B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412480" y="267557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A43"/>
                </a:solidFill>
              </a:rPr>
              <a:t>초보자 규칙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412480" y="3315650"/>
            <a:ext cx="2514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1. 작업 전 Pull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2. 작은 변경 후 Commit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3. Commit 메시지는 “무엇/왜”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4. 비밀번호·고객자료 금지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3040"/>
                </a:solidFill>
              </a:rPr>
              <a:t>5. 동작 확인 후 Push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8B6D9"/>
                </a:solidFill>
              </a:rPr>
              <a:t>09 · GUARDRAILS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</a:rPr>
              <a:t>AI가 만들었다고 Engineering 검증이 사라지지 않습니다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17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58A"/>
                </a:solidFill>
              </a:rPr>
              <a:t>빠르게 만들수록 데이터, 계산, 보안, 책임의 경계를 명확히 해야 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2852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86968" y="2458764"/>
            <a:ext cx="960120" cy="475488"/>
          </a:xfrm>
          <a:prstGeom prst="round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260506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2313432"/>
            <a:ext cx="3520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고객명·도면·가격·개인정보·API Key를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승인되지 않은 도구에 입력하지 않기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81928" y="1965960"/>
            <a:ext cx="52852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10528" y="2458765"/>
            <a:ext cx="960120" cy="475488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11112" y="2605069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CALC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26680" y="2313432"/>
            <a:ext cx="3520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공식, 단위, 경계값을 독립 계산으로 대조하고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샘플·극단값·오류 입력을 테스트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58368" y="3904488"/>
            <a:ext cx="52852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86968" y="4397292"/>
            <a:ext cx="960120" cy="475488"/>
          </a:xfrm>
          <a:prstGeom prst="round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87552" y="4543596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4251960"/>
            <a:ext cx="3520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AI 변경사항과 터미널 명령을 읽고 승인하며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의존성·라이선스·보안 취약점 확인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281928" y="3904488"/>
            <a:ext cx="52852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510528" y="4397293"/>
            <a:ext cx="960120" cy="475488"/>
          </a:xfrm>
          <a:prstGeom prst="round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611112" y="4543597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26680" y="4251960"/>
            <a:ext cx="3520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PoC와 공식 Engineering tool을 구분하고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최종 설계 승인·책임은 담당자가 유지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749808" y="58795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4545"/>
                </a:solidFill>
              </a:rPr>
              <a:t>STOP 기준  |  계산 근거를 설명할 수 없음  ·  민감정보가 포함됨  ·  승인되지 않은 외부 연결  ·  테스트 없이 공식 업무 사용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601968"/>
            <a:ext cx="37490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8B6D9"/>
                </a:solidFill>
              </a:rPr>
              <a:t>10 · HANDS-ON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</a:rPr>
              <a:t>팀 실습  |  45분 안에 첫 웹 도구 만들기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17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58A"/>
                </a:solidFill>
              </a:rPr>
              <a:t>완성도가 아니라 “작동하는 작은 결과 + GitHub에 남은 변경 이력”이 목표입니다.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199339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77FF"/>
                </a:solidFill>
              </a:rPr>
              <a:t>5 min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9626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문제 선택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75888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040"/>
                </a:solidFill>
              </a:rPr>
              <a:t>반복 업무 한 가지, 사용자 한 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98648" y="2011680"/>
            <a:ext cx="199339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18688" y="230428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77FF"/>
                </a:solidFill>
              </a:rPr>
              <a:t>10 min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081528" y="29626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프롬프트 작성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27248" y="3675888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040"/>
                </a:solidFill>
              </a:rPr>
              <a:t>목적·입력·규칙·출력·완료 조건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02936" y="2011680"/>
            <a:ext cx="1993392" cy="3383280"/>
          </a:xfrm>
          <a:prstGeom prst="roundRect">
            <a:avLst/>
          </a:prstGeom>
          <a:solidFill>
            <a:srgbClr val="EAF6FA"/>
          </a:solidFill>
          <a:ln w="254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522976" y="230428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8B6D9"/>
                </a:solidFill>
              </a:rPr>
              <a:t>15 min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385816" y="29626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생성·실행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31536" y="3675888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040"/>
                </a:solidFill>
              </a:rPr>
              <a:t>VS Code Agent로 파일 생성, 브라우저 확인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07224" y="2011680"/>
            <a:ext cx="199339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827264" y="230428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77FF"/>
                </a:solidFill>
              </a:rPr>
              <a:t>10 min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690104" y="29626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검증·개선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35824" y="3675888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040"/>
                </a:solidFill>
              </a:rPr>
              <a:t>샘플 값 3개, 오류 입력 1개 테스트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11512" y="2011680"/>
            <a:ext cx="199339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131552" y="230428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77FF"/>
                </a:solidFill>
              </a:rPr>
              <a:t>5 min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994392" y="29626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Commit·공유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40112" y="3675888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040"/>
                </a:solidFill>
              </a:rPr>
              <a:t>README와 스크린샷, 배운 점 1줄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920240" y="5687568"/>
            <a:ext cx="8366760" cy="4937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148840" y="5843016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Definition of Done  |  열림  ✓   입력됨  ✓   결과 표시  ✓   샘플 검증  ✓   Commit  ✓</a:t>
            </a:r>
            <a:endParaRPr lang="en-US" sz="12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7412" y="6557709"/>
            <a:ext cx="374904" cy="2088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8B6D9"/>
                </a:solidFill>
              </a:rPr>
              <a:t>11 · START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02A43"/>
                </a:solidFill>
              </a:rPr>
              <a:t>업무의</a:t>
            </a:r>
            <a:r>
              <a:rPr lang="en-US" sz="2800" b="1" dirty="0">
                <a:solidFill>
                  <a:srgbClr val="102A43"/>
                </a:solidFill>
              </a:rPr>
              <a:t> 작은 마찰 하나를 없애봅시다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17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</a:rPr>
              <a:t>크게 시작하지 말고, 반복 업무 한 장면을 선택해 작동하는 초안을 만듭니다.</a:t>
            </a:r>
          </a:p>
        </p:txBody>
      </p:sp>
      <p:sp>
        <p:nvSpPr>
          <p:cNvPr id="5" name="Shape 3"/>
          <p:cNvSpPr/>
          <p:nvPr/>
        </p:nvSpPr>
        <p:spPr>
          <a:xfrm>
            <a:off x="749808" y="2150465"/>
            <a:ext cx="6629400" cy="3345079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" y="2543657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18B6D9"/>
                </a:solidFill>
              </a:rPr>
              <a:t>FIRST 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092297"/>
            <a:ext cx="5623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“내 업무에서 매주 반복되는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한 가지 판단 또는 기록을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웹 도구로 바꿔보기”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97280" y="4753255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CE8"/>
                </a:solidFill>
              </a:rPr>
              <a:t>제출물  |  Repository + README + 화면 캡처 + 검증 결과 3개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99248" y="2150465"/>
            <a:ext cx="3730752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B7C5D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699248" y="2150465"/>
            <a:ext cx="73152" cy="94183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927848" y="2351633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1. 작게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27848" y="2790545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r>
              <a:rPr lang="en-US" sz="1150" dirty="0">
                <a:solidFill>
                  <a:srgbClr val="203040"/>
                </a:solidFill>
              </a:rPr>
              <a:t>한 화면 · 한 기능 · 한 사용자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99248" y="3311753"/>
            <a:ext cx="3730752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B7C5D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699248" y="3311753"/>
            <a:ext cx="73152" cy="941832"/>
          </a:xfrm>
          <a:prstGeom prst="rect">
            <a:avLst/>
          </a:prstGeom>
          <a:solidFill>
            <a:srgbClr val="18B6D9"/>
          </a:solidFill>
          <a:ln w="12700">
            <a:solidFill>
              <a:srgbClr val="18B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927848" y="3512921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2. 구체적으로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27848" y="3951833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r>
              <a:rPr lang="en-US" sz="1150" dirty="0">
                <a:solidFill>
                  <a:srgbClr val="203040"/>
                </a:solidFill>
              </a:rPr>
              <a:t>입력 · 규칙 · 출력 · 완료 조건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99248" y="4473041"/>
            <a:ext cx="3730752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B7C5D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699248" y="4473041"/>
            <a:ext cx="73152" cy="94183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927848" y="4674209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3. 안전하게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27848" y="5113121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r>
              <a:rPr lang="en-US" sz="1150" dirty="0">
                <a:solidFill>
                  <a:srgbClr val="203040"/>
                </a:solidFill>
              </a:rPr>
              <a:t>가짜 데이터 · 사람 검증 · Git 기록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97280" y="59161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102A43"/>
                </a:solidFill>
              </a:rPr>
              <a:t>IDEA → PROMPT → APP → VERIFY → SHARE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1202" y="6587482"/>
            <a:ext cx="43891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1919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c86c25f-31f1-46f7-b4f9-3c53b1ed0b07}" enabled="1" method="Standard" siteId="{a1ae89fb-21b9-40bf-9d82-a10ae85a240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1616</Words>
  <Application>Microsoft Office PowerPoint</Application>
  <PresentationFormat>와이드스크린</PresentationFormat>
  <Paragraphs>264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Mecha - 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코딩보다 문제 해결부터</dc:title>
  <dc:subject>Mechanical Engineers를 위한 GitHub &amp; VS Code Vibe Coding 입문</dc:subject>
  <dc:creator>Park, Jongsik</dc:creator>
  <cp:lastModifiedBy>Park, Jongsik</cp:lastModifiedBy>
  <cp:revision>4</cp:revision>
  <dcterms:created xsi:type="dcterms:W3CDTF">2026-10-19T02:48:57Z</dcterms:created>
  <dcterms:modified xsi:type="dcterms:W3CDTF">2026-10-19T06:10:23Z</dcterms:modified>
</cp:coreProperties>
</file>